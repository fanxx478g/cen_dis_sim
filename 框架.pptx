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79" autoAdjust="0"/>
  </p:normalViewPr>
  <p:slideViewPr>
    <p:cSldViewPr>
      <p:cViewPr varScale="1">
        <p:scale>
          <a:sx n="81" d="100"/>
          <a:sy n="81" d="100"/>
        </p:scale>
        <p:origin x="-1387"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1429413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3075016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330005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657706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2389943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696400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3442706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3649825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2367645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116968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3359ACE-25B5-4691-AB17-FE601BE05100}" type="datetimeFigureOut">
              <a:rPr lang="zh-CN" altLang="en-US" smtClean="0"/>
              <a:t>2026/6/5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1992257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359ACE-25B5-4691-AB17-FE601BE05100}" type="datetimeFigureOut">
              <a:rPr lang="zh-CN" altLang="en-US" smtClean="0"/>
              <a:t>2026/6/5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9244F4-E368-4ECF-886C-CFE0A5680B3D}" type="slidenum">
              <a:rPr lang="zh-CN" altLang="en-US" smtClean="0"/>
              <a:t>‹#›</a:t>
            </a:fld>
            <a:endParaRPr lang="zh-CN" altLang="en-US"/>
          </a:p>
        </p:txBody>
      </p:sp>
    </p:spTree>
    <p:extLst>
      <p:ext uri="{BB962C8B-B14F-4D97-AF65-F5344CB8AC3E}">
        <p14:creationId xmlns:p14="http://schemas.microsoft.com/office/powerpoint/2010/main" val="1076724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2136537" y="2229286"/>
            <a:ext cx="4844852"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调度器模块</a:t>
            </a:r>
            <a:endParaRPr lang="en-US" altLang="zh-CN" sz="1200" dirty="0" smtClean="0">
              <a:solidFill>
                <a:schemeClr val="tx1"/>
              </a:solidFill>
            </a:endParaRPr>
          </a:p>
          <a:p>
            <a:pPr algn="ctr"/>
            <a:r>
              <a:rPr lang="en-US" altLang="zh-CN" sz="1200" dirty="0" smtClean="0">
                <a:solidFill>
                  <a:schemeClr val="tx1"/>
                </a:solidFill>
              </a:rPr>
              <a:t>1.</a:t>
            </a:r>
            <a:r>
              <a:rPr lang="zh-CN" altLang="en-US" sz="1200" dirty="0" smtClean="0">
                <a:solidFill>
                  <a:schemeClr val="tx1"/>
                </a:solidFill>
              </a:rPr>
              <a:t>维持多种调度策略（</a:t>
            </a:r>
            <a:r>
              <a:rPr lang="en-US" altLang="zh-CN" sz="1200" dirty="0" smtClean="0">
                <a:solidFill>
                  <a:schemeClr val="tx1"/>
                </a:solidFill>
              </a:rPr>
              <a:t>Policy1,2,3</a:t>
            </a:r>
            <a:r>
              <a:rPr lang="zh-CN" altLang="en-US" sz="1200" dirty="0" smtClean="0">
                <a:solidFill>
                  <a:schemeClr val="tx1"/>
                </a:solidFill>
              </a:rPr>
              <a:t>）请求（</a:t>
            </a:r>
            <a:r>
              <a:rPr lang="en-US" altLang="zh-CN" sz="1200" dirty="0" smtClean="0">
                <a:solidFill>
                  <a:schemeClr val="tx1"/>
                </a:solidFill>
              </a:rPr>
              <a:t>Prefill/Decode</a:t>
            </a:r>
            <a:r>
              <a:rPr lang="zh-CN" altLang="en-US" sz="1200" dirty="0" smtClean="0">
                <a:solidFill>
                  <a:schemeClr val="tx1"/>
                </a:solidFill>
              </a:rPr>
              <a:t>任务</a:t>
            </a:r>
          </a:p>
          <a:p>
            <a:pPr algn="ctr"/>
            <a:r>
              <a:rPr lang="zh-CN" altLang="en-US" sz="1200" dirty="0" smtClean="0">
                <a:solidFill>
                  <a:schemeClr val="tx1"/>
                </a:solidFill>
              </a:rPr>
              <a:t>）应该发到哪个计算资源去。</a:t>
            </a:r>
            <a:endParaRPr lang="en-US" altLang="zh-CN" sz="1200" dirty="0" smtClean="0">
              <a:solidFill>
                <a:schemeClr val="tx1"/>
              </a:solidFill>
            </a:endParaRPr>
          </a:p>
          <a:p>
            <a:pPr algn="ctr"/>
            <a:r>
              <a:rPr lang="en-US" altLang="zh-CN" sz="1200" dirty="0" smtClean="0">
                <a:solidFill>
                  <a:schemeClr val="tx1"/>
                </a:solidFill>
              </a:rPr>
              <a:t>2.</a:t>
            </a:r>
            <a:r>
              <a:rPr lang="zh-CN" altLang="en-US" sz="1200" dirty="0" smtClean="0">
                <a:solidFill>
                  <a:schemeClr val="tx1"/>
                </a:solidFill>
              </a:rPr>
              <a:t>统计调度器的关键指标数据，不同计算资源所接到的请求等等</a:t>
            </a:r>
            <a:endParaRPr lang="zh-CN" altLang="en-US" sz="1200" dirty="0">
              <a:solidFill>
                <a:schemeClr val="tx1"/>
              </a:solidFill>
            </a:endParaRPr>
          </a:p>
        </p:txBody>
      </p:sp>
      <p:sp>
        <p:nvSpPr>
          <p:cNvPr id="5" name="圆角矩形 4"/>
          <p:cNvSpPr/>
          <p:nvPr/>
        </p:nvSpPr>
        <p:spPr>
          <a:xfrm>
            <a:off x="953710" y="717118"/>
            <a:ext cx="7056784"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用户行为生成模块</a:t>
            </a:r>
            <a:endParaRPr lang="en-US" altLang="zh-CN" sz="1100" dirty="0" smtClean="0">
              <a:solidFill>
                <a:schemeClr val="tx1"/>
              </a:solidFill>
            </a:endParaRPr>
          </a:p>
          <a:p>
            <a:pPr algn="ctr"/>
            <a:r>
              <a:rPr lang="en-US" altLang="zh-CN" sz="1100" dirty="0" smtClean="0">
                <a:solidFill>
                  <a:schemeClr val="tx1"/>
                </a:solidFill>
              </a:rPr>
              <a:t>1.</a:t>
            </a:r>
            <a:r>
              <a:rPr lang="zh-CN" altLang="en-US" sz="1100" dirty="0" smtClean="0">
                <a:solidFill>
                  <a:schemeClr val="tx1"/>
                </a:solidFill>
              </a:rPr>
              <a:t>模拟用户的请求行为，生产请求。包括不同用户数，不同到达间隔，不同对话轮数，长短</a:t>
            </a:r>
            <a:r>
              <a:rPr lang="en-US" altLang="zh-CN" sz="1100" dirty="0" smtClean="0">
                <a:solidFill>
                  <a:schemeClr val="tx1"/>
                </a:solidFill>
              </a:rPr>
              <a:t>prompt</a:t>
            </a:r>
            <a:r>
              <a:rPr lang="zh-CN" altLang="en-US" sz="1100" dirty="0" smtClean="0">
                <a:solidFill>
                  <a:schemeClr val="tx1"/>
                </a:solidFill>
              </a:rPr>
              <a:t>生成，不同</a:t>
            </a:r>
            <a:r>
              <a:rPr lang="en-US" altLang="zh-CN" sz="1100" dirty="0" smtClean="0">
                <a:solidFill>
                  <a:schemeClr val="tx1"/>
                </a:solidFill>
              </a:rPr>
              <a:t>output</a:t>
            </a:r>
            <a:r>
              <a:rPr lang="zh-CN" altLang="en-US" sz="1100" dirty="0" smtClean="0">
                <a:solidFill>
                  <a:schemeClr val="tx1"/>
                </a:solidFill>
              </a:rPr>
              <a:t>长度等。每个用户的请求需要遵循泊松分布到达的</a:t>
            </a:r>
            <a:endParaRPr lang="en-US" altLang="zh-CN" sz="1100" dirty="0" smtClean="0">
              <a:solidFill>
                <a:schemeClr val="tx1"/>
              </a:solidFill>
            </a:endParaRPr>
          </a:p>
          <a:p>
            <a:pPr algn="ctr"/>
            <a:r>
              <a:rPr lang="en-US" altLang="zh-CN" sz="1100" dirty="0" smtClean="0">
                <a:solidFill>
                  <a:schemeClr val="tx1"/>
                </a:solidFill>
              </a:rPr>
              <a:t>2.</a:t>
            </a:r>
            <a:r>
              <a:rPr lang="zh-CN" altLang="en-US" sz="1100" dirty="0" smtClean="0">
                <a:solidFill>
                  <a:schemeClr val="tx1"/>
                </a:solidFill>
              </a:rPr>
              <a:t>统计请求关键数据，平均值，个数，等等</a:t>
            </a:r>
            <a:endParaRPr lang="en-US" altLang="zh-CN" sz="1100" dirty="0" smtClean="0">
              <a:solidFill>
                <a:schemeClr val="tx1"/>
              </a:solidFill>
            </a:endParaRPr>
          </a:p>
        </p:txBody>
      </p:sp>
      <p:sp>
        <p:nvSpPr>
          <p:cNvPr id="6" name="圆角矩形 5"/>
          <p:cNvSpPr/>
          <p:nvPr/>
        </p:nvSpPr>
        <p:spPr>
          <a:xfrm>
            <a:off x="428887" y="3669446"/>
            <a:ext cx="8352928" cy="11521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计算资源模拟模块</a:t>
            </a:r>
            <a:endParaRPr lang="en-US" altLang="zh-CN" sz="1200" dirty="0" smtClean="0">
              <a:solidFill>
                <a:schemeClr val="tx1"/>
              </a:solidFill>
            </a:endParaRPr>
          </a:p>
          <a:p>
            <a:pPr algn="ctr"/>
            <a:r>
              <a:rPr lang="en-US" altLang="zh-CN" sz="1200" dirty="0" smtClean="0">
                <a:solidFill>
                  <a:schemeClr val="tx1"/>
                </a:solidFill>
              </a:rPr>
              <a:t>1.</a:t>
            </a:r>
            <a:r>
              <a:rPr lang="zh-CN" altLang="en-US" sz="1200" dirty="0" smtClean="0">
                <a:solidFill>
                  <a:schemeClr val="tx1"/>
                </a:solidFill>
              </a:rPr>
              <a:t>负责集群的计算资源模拟，不同数量的实例，</a:t>
            </a:r>
            <a:r>
              <a:rPr lang="en-US" altLang="zh-CN" sz="1200" dirty="0" smtClean="0">
                <a:solidFill>
                  <a:schemeClr val="tx1"/>
                </a:solidFill>
              </a:rPr>
              <a:t>prefill</a:t>
            </a:r>
            <a:r>
              <a:rPr lang="zh-CN" altLang="en-US" sz="1200" dirty="0" smtClean="0">
                <a:solidFill>
                  <a:schemeClr val="tx1"/>
                </a:solidFill>
              </a:rPr>
              <a:t>计算资源，</a:t>
            </a:r>
            <a:r>
              <a:rPr lang="en-US" altLang="zh-CN" sz="1200" dirty="0" smtClean="0">
                <a:solidFill>
                  <a:schemeClr val="tx1"/>
                </a:solidFill>
              </a:rPr>
              <a:t>decode</a:t>
            </a:r>
            <a:r>
              <a:rPr lang="zh-CN" altLang="en-US" sz="1200" dirty="0" smtClean="0">
                <a:solidFill>
                  <a:schemeClr val="tx1"/>
                </a:solidFill>
              </a:rPr>
              <a:t>计算资源等。计算资源状态可被查询。</a:t>
            </a:r>
            <a:endParaRPr lang="en-US" altLang="zh-CN" sz="1200" dirty="0" smtClean="0">
              <a:solidFill>
                <a:schemeClr val="tx1"/>
              </a:solidFill>
            </a:endParaRPr>
          </a:p>
          <a:p>
            <a:pPr algn="ctr"/>
            <a:r>
              <a:rPr lang="en-US" altLang="zh-CN" sz="1200" dirty="0" smtClean="0">
                <a:solidFill>
                  <a:schemeClr val="tx1"/>
                </a:solidFill>
              </a:rPr>
              <a:t>2.</a:t>
            </a:r>
            <a:r>
              <a:rPr lang="zh-CN" altLang="en-US" sz="1200" dirty="0" smtClean="0">
                <a:solidFill>
                  <a:schemeClr val="tx1"/>
                </a:solidFill>
              </a:rPr>
              <a:t>负责资源的计算与推演，维持请求等待队列，推进计算，</a:t>
            </a:r>
            <a:r>
              <a:rPr lang="en-US" altLang="zh-CN" sz="1200" dirty="0" smtClean="0">
                <a:solidFill>
                  <a:schemeClr val="tx1"/>
                </a:solidFill>
              </a:rPr>
              <a:t>prefill</a:t>
            </a:r>
            <a:r>
              <a:rPr lang="zh-CN" altLang="en-US" sz="1200" dirty="0" smtClean="0">
                <a:solidFill>
                  <a:schemeClr val="tx1"/>
                </a:solidFill>
              </a:rPr>
              <a:t>做完后产生</a:t>
            </a:r>
            <a:r>
              <a:rPr lang="en-US" altLang="zh-CN" sz="1200" dirty="0" smtClean="0">
                <a:solidFill>
                  <a:schemeClr val="tx1"/>
                </a:solidFill>
              </a:rPr>
              <a:t>decode</a:t>
            </a:r>
            <a:r>
              <a:rPr lang="zh-CN" altLang="en-US" sz="1200" dirty="0" smtClean="0">
                <a:solidFill>
                  <a:schemeClr val="tx1"/>
                </a:solidFill>
              </a:rPr>
              <a:t>。</a:t>
            </a:r>
            <a:r>
              <a:rPr lang="en-US" altLang="zh-CN" sz="1200" dirty="0" smtClean="0">
                <a:solidFill>
                  <a:schemeClr val="tx1"/>
                </a:solidFill>
              </a:rPr>
              <a:t>Prefill</a:t>
            </a:r>
            <a:r>
              <a:rPr lang="zh-CN" altLang="en-US" sz="1200" dirty="0" smtClean="0">
                <a:solidFill>
                  <a:schemeClr val="tx1"/>
                </a:solidFill>
              </a:rPr>
              <a:t>组</a:t>
            </a:r>
            <a:r>
              <a:rPr lang="en-US" altLang="zh-CN" sz="1200" dirty="0" smtClean="0">
                <a:solidFill>
                  <a:schemeClr val="tx1"/>
                </a:solidFill>
              </a:rPr>
              <a:t>batch</a:t>
            </a:r>
            <a:r>
              <a:rPr lang="zh-CN" altLang="en-US" sz="1200" dirty="0" smtClean="0">
                <a:solidFill>
                  <a:schemeClr val="tx1"/>
                </a:solidFill>
              </a:rPr>
              <a:t>，</a:t>
            </a:r>
            <a:r>
              <a:rPr lang="en-US" altLang="zh-CN" sz="1200" dirty="0" smtClean="0">
                <a:solidFill>
                  <a:schemeClr val="tx1"/>
                </a:solidFill>
              </a:rPr>
              <a:t>decode</a:t>
            </a:r>
            <a:r>
              <a:rPr lang="zh-CN" altLang="en-US" sz="1200" dirty="0" smtClean="0">
                <a:solidFill>
                  <a:schemeClr val="tx1"/>
                </a:solidFill>
              </a:rPr>
              <a:t>组</a:t>
            </a:r>
            <a:r>
              <a:rPr lang="en-US" altLang="zh-CN" sz="1200" dirty="0" smtClean="0">
                <a:solidFill>
                  <a:schemeClr val="tx1"/>
                </a:solidFill>
              </a:rPr>
              <a:t>batch</a:t>
            </a:r>
            <a:r>
              <a:rPr lang="zh-CN" altLang="en-US" sz="1200" dirty="0" smtClean="0">
                <a:solidFill>
                  <a:schemeClr val="tx1"/>
                </a:solidFill>
              </a:rPr>
              <a:t>等等。</a:t>
            </a:r>
            <a:endParaRPr lang="en-US" altLang="zh-CN" sz="1200" dirty="0" smtClean="0">
              <a:solidFill>
                <a:schemeClr val="tx1"/>
              </a:solidFill>
            </a:endParaRPr>
          </a:p>
          <a:p>
            <a:pPr algn="ctr"/>
            <a:r>
              <a:rPr lang="en-US" altLang="zh-CN" sz="1200" dirty="0" smtClean="0">
                <a:solidFill>
                  <a:schemeClr val="tx1"/>
                </a:solidFill>
              </a:rPr>
              <a:t>3.</a:t>
            </a:r>
            <a:r>
              <a:rPr lang="zh-CN" altLang="en-US" sz="1200" dirty="0" smtClean="0">
                <a:solidFill>
                  <a:schemeClr val="tx1"/>
                </a:solidFill>
              </a:rPr>
              <a:t>模拟计算的过程是时间的叠加，比如一个</a:t>
            </a:r>
            <a:r>
              <a:rPr lang="en-US" altLang="zh-CN" sz="1200" dirty="0" smtClean="0">
                <a:solidFill>
                  <a:schemeClr val="tx1"/>
                </a:solidFill>
              </a:rPr>
              <a:t>XXX</a:t>
            </a:r>
            <a:r>
              <a:rPr lang="zh-CN" altLang="en-US" sz="1200" dirty="0" smtClean="0">
                <a:solidFill>
                  <a:schemeClr val="tx1"/>
                </a:solidFill>
              </a:rPr>
              <a:t>样子的</a:t>
            </a:r>
            <a:r>
              <a:rPr lang="en-US" altLang="zh-CN" sz="1200" dirty="0" smtClean="0">
                <a:solidFill>
                  <a:schemeClr val="tx1"/>
                </a:solidFill>
              </a:rPr>
              <a:t>prefill</a:t>
            </a:r>
            <a:r>
              <a:rPr lang="zh-CN" altLang="en-US" sz="1200" dirty="0" smtClean="0">
                <a:solidFill>
                  <a:schemeClr val="tx1"/>
                </a:solidFill>
              </a:rPr>
              <a:t>，在</a:t>
            </a:r>
            <a:r>
              <a:rPr lang="en-US" altLang="zh-CN" sz="1200" dirty="0" smtClean="0">
                <a:solidFill>
                  <a:schemeClr val="tx1"/>
                </a:solidFill>
              </a:rPr>
              <a:t>xxx</a:t>
            </a:r>
            <a:r>
              <a:rPr lang="zh-CN" altLang="en-US" sz="1200" dirty="0" smtClean="0">
                <a:solidFill>
                  <a:schemeClr val="tx1"/>
                </a:solidFill>
              </a:rPr>
              <a:t>计算资源的</a:t>
            </a:r>
            <a:r>
              <a:rPr lang="en-US" altLang="zh-CN" sz="1200" dirty="0" smtClean="0">
                <a:solidFill>
                  <a:schemeClr val="tx1"/>
                </a:solidFill>
              </a:rPr>
              <a:t>prefill</a:t>
            </a:r>
            <a:r>
              <a:rPr lang="zh-CN" altLang="en-US" sz="1200" dirty="0" smtClean="0">
                <a:solidFill>
                  <a:schemeClr val="tx1"/>
                </a:solidFill>
              </a:rPr>
              <a:t>单实例中计算，消耗时间就是</a:t>
            </a:r>
            <a:r>
              <a:rPr lang="en-US" altLang="zh-CN" sz="1200" dirty="0" err="1" smtClean="0">
                <a:solidFill>
                  <a:schemeClr val="tx1"/>
                </a:solidFill>
              </a:rPr>
              <a:t>XXms</a:t>
            </a:r>
            <a:r>
              <a:rPr lang="zh-CN" altLang="en-US" sz="1200" dirty="0" smtClean="0">
                <a:solidFill>
                  <a:schemeClr val="tx1"/>
                </a:solidFill>
              </a:rPr>
              <a:t>。</a:t>
            </a:r>
            <a:endParaRPr lang="en-US" altLang="zh-CN" sz="1200" dirty="0" smtClean="0">
              <a:solidFill>
                <a:schemeClr val="tx1"/>
              </a:solidFill>
            </a:endParaRPr>
          </a:p>
          <a:p>
            <a:pPr algn="ctr"/>
            <a:r>
              <a:rPr lang="en-US" altLang="zh-CN" sz="1200" dirty="0" smtClean="0">
                <a:solidFill>
                  <a:schemeClr val="tx1"/>
                </a:solidFill>
              </a:rPr>
              <a:t>4.</a:t>
            </a:r>
            <a:r>
              <a:rPr lang="zh-CN" altLang="en-US" sz="1200" dirty="0" smtClean="0">
                <a:solidFill>
                  <a:schemeClr val="tx1"/>
                </a:solidFill>
              </a:rPr>
              <a:t>统计吞吐，</a:t>
            </a:r>
            <a:r>
              <a:rPr lang="en-US" altLang="zh-CN" sz="1200" dirty="0" err="1" smtClean="0">
                <a:solidFill>
                  <a:schemeClr val="tx1"/>
                </a:solidFill>
              </a:rPr>
              <a:t>ttft</a:t>
            </a:r>
            <a:r>
              <a:rPr lang="zh-CN" altLang="en-US" sz="1200" dirty="0" smtClean="0">
                <a:solidFill>
                  <a:schemeClr val="tx1"/>
                </a:solidFill>
              </a:rPr>
              <a:t>，</a:t>
            </a:r>
            <a:r>
              <a:rPr lang="en-US" altLang="zh-CN" sz="1200" dirty="0" err="1" smtClean="0">
                <a:solidFill>
                  <a:schemeClr val="tx1"/>
                </a:solidFill>
              </a:rPr>
              <a:t>tpot</a:t>
            </a:r>
            <a:r>
              <a:rPr lang="zh-CN" altLang="en-US" sz="1200" dirty="0" smtClean="0">
                <a:solidFill>
                  <a:schemeClr val="tx1"/>
                </a:solidFill>
              </a:rPr>
              <a:t>，排队时间，端到端处理时间等关键系统指标。统计计算资源的空闲</a:t>
            </a:r>
            <a:r>
              <a:rPr lang="en-US" altLang="zh-CN" sz="1200" dirty="0" smtClean="0">
                <a:solidFill>
                  <a:schemeClr val="tx1"/>
                </a:solidFill>
              </a:rPr>
              <a:t>/</a:t>
            </a:r>
            <a:r>
              <a:rPr lang="zh-CN" altLang="en-US" sz="1200" dirty="0" smtClean="0">
                <a:solidFill>
                  <a:schemeClr val="tx1"/>
                </a:solidFill>
              </a:rPr>
              <a:t>占用时间等等。</a:t>
            </a:r>
            <a:endParaRPr lang="en-US" altLang="zh-CN" sz="1200" dirty="0" smtClean="0">
              <a:solidFill>
                <a:schemeClr val="tx1"/>
              </a:solidFill>
            </a:endParaRPr>
          </a:p>
        </p:txBody>
      </p:sp>
      <p:cxnSp>
        <p:nvCxnSpPr>
          <p:cNvPr id="8" name="直接箭头连接符 7"/>
          <p:cNvCxnSpPr>
            <a:stCxn id="5" idx="2"/>
            <a:endCxn id="4" idx="0"/>
          </p:cNvCxnSpPr>
          <p:nvPr/>
        </p:nvCxnSpPr>
        <p:spPr>
          <a:xfrm>
            <a:off x="4482102" y="1509206"/>
            <a:ext cx="76861"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4" idx="2"/>
            <a:endCxn id="6" idx="0"/>
          </p:cNvCxnSpPr>
          <p:nvPr/>
        </p:nvCxnSpPr>
        <p:spPr>
          <a:xfrm>
            <a:off x="4558963" y="3021374"/>
            <a:ext cx="46388"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818342" y="1696348"/>
            <a:ext cx="936104" cy="369332"/>
          </a:xfrm>
          <a:prstGeom prst="rect">
            <a:avLst/>
          </a:prstGeom>
          <a:noFill/>
        </p:spPr>
        <p:txBody>
          <a:bodyPr wrap="square" rtlCol="0">
            <a:spAutoFit/>
          </a:bodyPr>
          <a:lstStyle/>
          <a:p>
            <a:r>
              <a:rPr lang="zh-CN" altLang="en-US" dirty="0" smtClean="0"/>
              <a:t>请求</a:t>
            </a:r>
            <a:endParaRPr lang="zh-CN" altLang="en-US" dirty="0"/>
          </a:p>
        </p:txBody>
      </p:sp>
      <p:sp>
        <p:nvSpPr>
          <p:cNvPr id="16" name="TextBox 15"/>
          <p:cNvSpPr txBox="1"/>
          <p:nvPr/>
        </p:nvSpPr>
        <p:spPr>
          <a:xfrm>
            <a:off x="2588373" y="3160744"/>
            <a:ext cx="2016978" cy="369332"/>
          </a:xfrm>
          <a:prstGeom prst="rect">
            <a:avLst/>
          </a:prstGeom>
          <a:noFill/>
        </p:spPr>
        <p:txBody>
          <a:bodyPr wrap="square" rtlCol="0">
            <a:spAutoFit/>
          </a:bodyPr>
          <a:lstStyle/>
          <a:p>
            <a:r>
              <a:rPr lang="en-US" altLang="zh-CN" dirty="0" smtClean="0"/>
              <a:t>Prefill/Decode</a:t>
            </a:r>
            <a:r>
              <a:rPr lang="zh-CN" altLang="en-US" dirty="0" smtClean="0"/>
              <a:t>任务</a:t>
            </a:r>
            <a:endParaRPr lang="zh-CN" altLang="en-US" dirty="0"/>
          </a:p>
        </p:txBody>
      </p:sp>
      <p:cxnSp>
        <p:nvCxnSpPr>
          <p:cNvPr id="17" name="直接箭头连接符 16"/>
          <p:cNvCxnSpPr/>
          <p:nvPr/>
        </p:nvCxnSpPr>
        <p:spPr>
          <a:xfrm flipV="1">
            <a:off x="6873113" y="3021374"/>
            <a:ext cx="0"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875009" y="3164808"/>
            <a:ext cx="2016978" cy="369332"/>
          </a:xfrm>
          <a:prstGeom prst="rect">
            <a:avLst/>
          </a:prstGeom>
          <a:noFill/>
        </p:spPr>
        <p:txBody>
          <a:bodyPr wrap="square" rtlCol="0">
            <a:spAutoFit/>
          </a:bodyPr>
          <a:lstStyle/>
          <a:p>
            <a:r>
              <a:rPr lang="en-US" altLang="zh-CN" dirty="0" smtClean="0"/>
              <a:t>Decode</a:t>
            </a:r>
            <a:r>
              <a:rPr lang="zh-CN" altLang="en-US" dirty="0" smtClean="0"/>
              <a:t>任务</a:t>
            </a:r>
            <a:endParaRPr lang="zh-CN" altLang="en-US" dirty="0"/>
          </a:p>
        </p:txBody>
      </p:sp>
      <p:sp>
        <p:nvSpPr>
          <p:cNvPr id="23" name="TextBox 22"/>
          <p:cNvSpPr txBox="1"/>
          <p:nvPr/>
        </p:nvSpPr>
        <p:spPr>
          <a:xfrm>
            <a:off x="343944" y="5157192"/>
            <a:ext cx="8301509" cy="1569660"/>
          </a:xfrm>
          <a:prstGeom prst="rect">
            <a:avLst/>
          </a:prstGeom>
          <a:noFill/>
        </p:spPr>
        <p:txBody>
          <a:bodyPr wrap="square" rtlCol="0">
            <a:spAutoFit/>
          </a:bodyPr>
          <a:lstStyle/>
          <a:p>
            <a:r>
              <a:rPr lang="en-US" altLang="zh-CN" sz="1200" dirty="0" smtClean="0"/>
              <a:t>1.</a:t>
            </a:r>
            <a:r>
              <a:rPr lang="zh-CN" altLang="en-US" sz="1200" dirty="0" smtClean="0"/>
              <a:t>整个仿真系统应该是由事件驱动，非常高效的运行。</a:t>
            </a:r>
            <a:endParaRPr lang="en-US" altLang="zh-CN" sz="1200" dirty="0" smtClean="0"/>
          </a:p>
          <a:p>
            <a:r>
              <a:rPr lang="en-US" altLang="zh-CN" sz="1200" dirty="0" smtClean="0"/>
              <a:t>2.</a:t>
            </a:r>
            <a:r>
              <a:rPr lang="zh-CN" altLang="en-US" sz="1200" dirty="0"/>
              <a:t>每一</a:t>
            </a:r>
            <a:r>
              <a:rPr lang="zh-CN" altLang="en-US" sz="1200" dirty="0" smtClean="0"/>
              <a:t>个用户请求可视为一次事件驱动的触发标志。当一个新的用户请求被处理之前（除第一个以外）整个系统需要先更新上一个请求到这个新请求之间这段时间会发生的状态改变和事件。比如新请求之前有之前的</a:t>
            </a:r>
            <a:r>
              <a:rPr lang="en-US" altLang="zh-CN" sz="1200" dirty="0" smtClean="0"/>
              <a:t>prefill</a:t>
            </a:r>
            <a:r>
              <a:rPr lang="zh-CN" altLang="en-US" sz="1200" dirty="0" smtClean="0"/>
              <a:t>计算完成，多个</a:t>
            </a:r>
            <a:r>
              <a:rPr lang="en-US" altLang="zh-CN" sz="1200" dirty="0" smtClean="0"/>
              <a:t>decode</a:t>
            </a:r>
            <a:r>
              <a:rPr lang="zh-CN" altLang="en-US" sz="1200" dirty="0" smtClean="0"/>
              <a:t>经由调度器模块进入计算资源模块排队，计算资源模块更新队列，</a:t>
            </a:r>
            <a:r>
              <a:rPr lang="en-US" altLang="zh-CN" sz="1200" dirty="0" smtClean="0"/>
              <a:t>batch</a:t>
            </a:r>
            <a:r>
              <a:rPr lang="zh-CN" altLang="en-US" sz="1200" dirty="0" smtClean="0"/>
              <a:t>更新，等待时长更新等等。然后再处理新的用户请求，比如调度器应该转发它到哪个计算资源排队，计算资源队列刷新，时间刷新等等。</a:t>
            </a:r>
            <a:endParaRPr lang="en-US" altLang="zh-CN" sz="1200" dirty="0" smtClean="0"/>
          </a:p>
          <a:p>
            <a:r>
              <a:rPr lang="en-US" altLang="zh-CN" sz="1200" dirty="0" smtClean="0"/>
              <a:t>3.</a:t>
            </a:r>
            <a:r>
              <a:rPr lang="zh-CN" altLang="en-US" sz="1200" dirty="0" smtClean="0"/>
              <a:t>可能出现的计算资源场景是。</a:t>
            </a:r>
            <a:r>
              <a:rPr lang="en-US" altLang="zh-CN" sz="1200" dirty="0" smtClean="0"/>
              <a:t>A. </a:t>
            </a:r>
            <a:r>
              <a:rPr lang="zh-CN" altLang="en-US" sz="1200" dirty="0" smtClean="0"/>
              <a:t>一个中心大智算集群，做长序列的</a:t>
            </a:r>
            <a:r>
              <a:rPr lang="en-US" altLang="zh-CN" sz="1200" dirty="0" smtClean="0"/>
              <a:t>Prefill</a:t>
            </a:r>
            <a:r>
              <a:rPr lang="zh-CN" altLang="en-US" sz="1200" dirty="0" smtClean="0"/>
              <a:t>，多个分布式小智算集群，每个小智算集群内有做短序列的</a:t>
            </a:r>
            <a:r>
              <a:rPr lang="en-US" altLang="zh-CN" sz="1200" dirty="0" smtClean="0"/>
              <a:t>prefill</a:t>
            </a:r>
            <a:r>
              <a:rPr lang="zh-CN" altLang="en-US" sz="1200" dirty="0" smtClean="0"/>
              <a:t>资源和做</a:t>
            </a:r>
            <a:r>
              <a:rPr lang="en-US" altLang="zh-CN" sz="1200" dirty="0" smtClean="0"/>
              <a:t>decode</a:t>
            </a:r>
            <a:r>
              <a:rPr lang="zh-CN" altLang="en-US" sz="1200" dirty="0" smtClean="0"/>
              <a:t>的计算资源。</a:t>
            </a:r>
            <a:r>
              <a:rPr lang="en-US" altLang="zh-CN" sz="1200" dirty="0" smtClean="0"/>
              <a:t>B.</a:t>
            </a:r>
            <a:r>
              <a:rPr lang="zh-CN" altLang="en-US" sz="1200" dirty="0" smtClean="0"/>
              <a:t>多个分布式的智算中心，每个智算中心内有做长序列</a:t>
            </a:r>
            <a:r>
              <a:rPr lang="en-US" altLang="zh-CN" sz="1200" dirty="0" smtClean="0"/>
              <a:t>prefill</a:t>
            </a:r>
            <a:r>
              <a:rPr lang="zh-CN" altLang="en-US" sz="1200" dirty="0" smtClean="0"/>
              <a:t>，短序列</a:t>
            </a:r>
            <a:r>
              <a:rPr lang="en-US" altLang="zh-CN" sz="1200" dirty="0" smtClean="0"/>
              <a:t>prefill</a:t>
            </a:r>
            <a:r>
              <a:rPr lang="zh-CN" altLang="en-US" sz="1200" dirty="0" smtClean="0"/>
              <a:t>和</a:t>
            </a:r>
            <a:r>
              <a:rPr lang="en-US" altLang="zh-CN" sz="1200" dirty="0" smtClean="0"/>
              <a:t>decode</a:t>
            </a:r>
            <a:r>
              <a:rPr lang="zh-CN" altLang="en-US" sz="1200" dirty="0" smtClean="0"/>
              <a:t>的计算资源，计算资源分开。计算资源最小单位为</a:t>
            </a:r>
            <a:r>
              <a:rPr lang="en-US" altLang="zh-CN" sz="1200" dirty="0" smtClean="0"/>
              <a:t>1</a:t>
            </a:r>
            <a:r>
              <a:rPr lang="zh-CN" altLang="en-US" sz="1200" dirty="0" smtClean="0"/>
              <a:t>实例。</a:t>
            </a:r>
            <a:endParaRPr lang="en-US" altLang="zh-CN" sz="1200" dirty="0" smtClean="0"/>
          </a:p>
        </p:txBody>
      </p:sp>
    </p:spTree>
    <p:extLst>
      <p:ext uri="{BB962C8B-B14F-4D97-AF65-F5344CB8AC3E}">
        <p14:creationId xmlns:p14="http://schemas.microsoft.com/office/powerpoint/2010/main" val="27044805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470</Words>
  <Application>Microsoft Office PowerPoint</Application>
  <PresentationFormat>全屏显示(4:3)</PresentationFormat>
  <Paragraphs>18</Paragraphs>
  <Slides>1</Slides>
  <Notes>0</Notes>
  <HiddenSlides>0</HiddenSlides>
  <MMClips>0</MMClips>
  <ScaleCrop>false</ScaleCrop>
  <HeadingPairs>
    <vt:vector size="4" baseType="variant">
      <vt:variant>
        <vt:lpstr>主题</vt:lpstr>
      </vt:variant>
      <vt:variant>
        <vt:i4>1</vt:i4>
      </vt:variant>
      <vt:variant>
        <vt:lpstr>幻灯片标题</vt:lpstr>
      </vt:variant>
      <vt:variant>
        <vt:i4>1</vt:i4>
      </vt:variant>
    </vt:vector>
  </HeadingPairs>
  <TitlesOfParts>
    <vt:vector size="2" baseType="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ZIHE FAN</dc:creator>
  <cp:lastModifiedBy>ZIHE FAN</cp:lastModifiedBy>
  <cp:revision>11</cp:revision>
  <dcterms:created xsi:type="dcterms:W3CDTF">2026-06-05T08:34:05Z</dcterms:created>
  <dcterms:modified xsi:type="dcterms:W3CDTF">2026-06-05T10:23:51Z</dcterms:modified>
</cp:coreProperties>
</file>